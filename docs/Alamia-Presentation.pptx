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team and the idea in one sentence: Al-Alamia is a managed outsourcing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build/assets/logo/alamia-mark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91072"/>
            <a:ext cx="237744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Al-Alamia · Graduation project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2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Rawa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411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</a:t>
            </a:r>
            <a:endParaRPr lang="en-US" sz="1300" dirty="0"/>
          </a:p>
        </p:txBody>
      </p:sp>
      <p:pic>
        <p:nvPicPr>
          <p:cNvPr id="5" name="Image 1" descr="ITC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23760" y="411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Institute</a:t>
            </a:r>
            <a:endParaRPr lang="en-US" sz="1300" dirty="0"/>
          </a:p>
        </p:txBody>
      </p:sp>
      <p:pic>
        <p:nvPicPr>
          <p:cNvPr id="7" name="Image 2" descr="Al-Alami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206240" cy="163677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platform that takes a client’s digital project from first request to reviewed delivery.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548640" y="5669280"/>
            <a:ext cx="2011680" cy="0"/>
          </a:xfrm>
          <a:prstGeom prst="line">
            <a:avLst/>
          </a:prstGeom>
          <a:noFill/>
          <a:ln w="25400">
            <a:solidFill>
              <a:srgbClr val="C9A15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Tawfik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788920" y="5669280"/>
            <a:ext cx="2011680" cy="0"/>
          </a:xfrm>
          <a:prstGeom prst="line">
            <a:avLst/>
          </a:prstGeom>
          <a:noFill/>
          <a:ln w="25400">
            <a:solidFill>
              <a:srgbClr val="C9A15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78892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Reda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788920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0" y="5669280"/>
            <a:ext cx="2011680" cy="0"/>
          </a:xfrm>
          <a:prstGeom prst="line">
            <a:avLst/>
          </a:prstGeom>
          <a:noFill/>
          <a:ln w="25400">
            <a:solidFill>
              <a:srgbClr val="C9A15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029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Khaled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0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69480" y="5669280"/>
            <a:ext cx="2011680" cy="0"/>
          </a:xfrm>
          <a:prstGeom prst="line">
            <a:avLst/>
          </a:prstGeom>
          <a:noFill/>
          <a:ln w="25400">
            <a:solidFill>
              <a:srgbClr val="C9A15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26948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Merna Abdelfattah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509760" y="5669280"/>
            <a:ext cx="2011680" cy="0"/>
          </a:xfrm>
          <a:prstGeom prst="line">
            <a:avLst/>
          </a:prstGeom>
          <a:noFill/>
          <a:ln w="25400">
            <a:solidFill>
              <a:srgbClr val="C9A15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50976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Nahed Magdy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509760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marketplaces hand the hard work to both sides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 and freelancers each carry a burden the platform should carry.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C9A15F"/>
          </a:solidFill>
          <a:ln w="12700">
            <a:solidFill>
              <a:srgbClr val="C9A1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judge freelancer quality, manage deadlines or review a delivery. They just want the result.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31720"/>
            <a:ext cx="640080" cy="640080"/>
          </a:xfrm>
          <a:prstGeom prst="ellipse">
            <a:avLst/>
          </a:prstGeom>
          <a:solidFill>
            <a:srgbClr val="B9CBEA"/>
          </a:solidFill>
          <a:ln w="12700">
            <a:solidFill>
              <a:srgbClr val="B9CB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947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time hunting for work, negotiating and chasing payment instead of doing the work.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947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only a directory. Nobody owns quality, so disputes and missed deadlines are normal.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Al-Alamia sits in the middle and owns the outcome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never negotiate with freelancers. The platform reviews, prices, assigns and checks every delivery.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services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6F2EF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optional meeting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6F2EF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tasks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skills, deadline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92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B9CBEA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go out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valid accept wins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B9CBEA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delivery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links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496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10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revise, reject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5982"/>
                </a:solidFill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49840" y="228600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2429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41280" y="24688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3154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or deduction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242944"/>
          </a:solidFill>
          <a:ln w="9525">
            <a:solidFill>
              <a:srgbClr val="2429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freelancers only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297680" y="45720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242944"/>
          </a:solidFill>
          <a:ln w="9525">
            <a:solidFill>
              <a:srgbClr val="2429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one freelancer at a time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046720" y="45720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242944"/>
          </a:solidFill>
          <a:ln w="9525">
            <a:solidFill>
              <a:srgbClr val="2429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reviewed before the client sees 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workflow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is a role in Identity, not a separate table.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822960" cy="822960"/>
          </a:xfrm>
          <a:prstGeom prst="ellipse">
            <a:avLst/>
          </a:prstGeom>
          <a:solidFill>
            <a:srgbClr val="C9A15F"/>
          </a:solidFill>
          <a:ln w="12700">
            <a:solidFill>
              <a:srgbClr val="C9A15F"/>
            </a:solidFill>
            <a:prstDash val="solid"/>
          </a:ln>
        </p:spPr>
      </p:sp>
      <p:pic>
        <p:nvPicPr>
          <p:cNvPr id="6" name="Image 0" descr="../build/assets/logo/alamia-mark-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95728"/>
            <a:ext cx="402336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86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project, picks services, writes customizations, books a meeting if needed, and follows progress and support.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240280"/>
            <a:ext cx="822960" cy="822960"/>
          </a:xfrm>
          <a:prstGeom prst="ellipse">
            <a:avLst/>
          </a:prstGeom>
          <a:solidFill>
            <a:srgbClr val="B9CBEA"/>
          </a:solidFill>
          <a:ln w="12700">
            <a:solidFill>
              <a:srgbClr val="B9CBEA"/>
            </a:solidFill>
            <a:prstDash val="solid"/>
          </a:ln>
        </p:spPr>
      </p:sp>
      <p:pic>
        <p:nvPicPr>
          <p:cNvPr id="11" name="Image 1" descr="../build/assets/logo/alamia-mark-mo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95728"/>
            <a:ext cx="402336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886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track, adds work samples, waits for approval. Then receives offers, delivers, and follows earnings.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240280"/>
            <a:ext cx="822960" cy="82296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pic>
        <p:nvPicPr>
          <p:cNvPr id="16" name="Image 2" descr="../build/assets/logo/alamia-mark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395728"/>
            <a:ext cx="402336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886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freelancers, prices requests, creates tasks, reviews deliveries and applies deductions and blocks.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sees one screen, not a marketplace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project type, configure it, book a meeting, track progress.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" y="1764792"/>
            <a:ext cx="5642897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5" name="Image 0" descr="../build/assets/shots_en/c6_trac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06321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97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project and get support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71232" y="1764792"/>
            <a:ext cx="4059936" cy="18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8" name="Image 1" descr="../build/assets/shots_en/c3_proj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023360" cy="17821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3656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project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571232" y="4050792"/>
            <a:ext cx="307204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11" name="Image 2" descr="../build/assets/shots_en/c5_booki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69080"/>
            <a:ext cx="3035470" cy="17373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5897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meeting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get focused offers, not noise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valid accept wins; deadlines and deductions are stated up front.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" y="1764792"/>
            <a:ext cx="635210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5" name="Image 0" descr="../build/assets/shots_en/f2_fe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315524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97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offer: first to accept gets 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71232" y="1764792"/>
            <a:ext cx="2824881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8" name="Image 1" descr="../build/assets/shots_en/f1_on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2788305" cy="1828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sign-up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571232" y="4050792"/>
            <a:ext cx="3198794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11" name="Image 2" descr="../build/assets/shots_en/f4_wall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69080"/>
            <a:ext cx="3162218" cy="17373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5897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Wallet: the ledger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console runs the whole workflow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task board, submission review and the ledger in one place.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" y="1764792"/>
            <a:ext cx="6711696" cy="2918657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5" name="Image 0" descr="../build/assets/shots_en/a3_tas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5120" cy="28820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6601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board by track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71232" y="1764792"/>
            <a:ext cx="4059936" cy="15062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8" name="Image 1" descr="../build/assets/shots_en/a2_re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023360" cy="14697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334423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571232" y="4050792"/>
            <a:ext cx="4059936" cy="1338251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11" name="Image 2" descr="../build/assets/shots_en/a4_re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69080"/>
            <a:ext cx="4023360" cy="13016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546219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review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Payouts screen shows the ledger only. No real money moves in this 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rules are explicit and configurable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numbered rules (BR-01 to BR-20). Values come from configuration, not code.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tasks per freelancer per month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for the one extra day, once per task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if nothing is delivered after the extra 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for final rejection or withdrawal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published portfolio item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only stops new offers. Tasks already assigned continue.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revision stays on the same task with the same freelancer. Ledger only: the platform records money, it does not move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accept wins, enforced by the database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parallel requests, exactly one winner.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" y="1673352"/>
            <a:ext cx="5705856" cy="3720906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5"/>
            </a:solidFill>
            <a:prstDash val="solid"/>
          </a:ln>
        </p:spPr>
      </p:sp>
      <p:pic>
        <p:nvPicPr>
          <p:cNvPr id="5" name="Image 0" descr="../build/assets/diag/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669280" cy="36843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783080"/>
            <a:ext cx="502920" cy="5029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UPDATE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1671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is assigned only if Status = Open and nobody holds it. One row affected means you won.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5120" y="3200400"/>
            <a:ext cx="502920" cy="5029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for everyone else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35844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losers get a clear conflict response and the UI rolls back its optimistic update.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5120" y="4617720"/>
            <a:ext cx="502920" cy="5029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4599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a test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500176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concurrent requests in CI through Testcontainers: one winner, 49 conflicts.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in a modular monolith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unit, clear module boundaries, dependencies point inward.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288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TypeScript · TanStack Query · react-i18next (RTL/LTR)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B9CBEA"/>
          </a:solidFill>
          <a:ln w="12700">
            <a:solidFill>
              <a:srgbClr val="B9C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70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alealamia.API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700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controllers · policies · rate limiting · ProblemDetails · OpenAPI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F6F2EF"/>
          </a:solidFill>
          <a:ln w="12700">
            <a:solidFill>
              <a:srgbClr val="F6F2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1129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alealamia.Application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5112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FluentValidation · DTOs · interfaces · policies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F6F2EF"/>
          </a:solidFill>
          <a:ln w="12700">
            <a:solidFill>
              <a:srgbClr val="F6F2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5254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alealamia.Domain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3525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enums · state rules · no framework dependencies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7498080" cy="713232"/>
          </a:xfrm>
          <a:prstGeom prst="roundRect">
            <a:avLst>
              <a:gd name="adj" fmla="val 12821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937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alealamia.Infrastructure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1937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10 + SQL Server · Identity + JWT · files · MailKit · background jobs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3246120" cy="40233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514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Web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rotating refresh tokens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for e-mail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monitor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Keyset pagination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+ correlation 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entities, 12 modules, one database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ERD was reviewed against the rules. Changes only close gaps; no features were added.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242944"/>
          </a:solidFill>
          <a:ln w="9525">
            <a:solidFill>
              <a:srgbClr val="2429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in 12 modules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Freelancer · Portfolio · Projects · Marketing · Tasks · Delivery · Finance · Files · Support · Notifications · Catalog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6F2E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Task.RewardAmount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for earnings and the 20% deduction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42316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Task.RowVersion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token for assignment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301752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6F2E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AssignedFreelancerProfileId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foreign-key naming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61188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ProfileImageFileId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611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table, no loose URLs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20624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6F2E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Notification.RelatedEntity*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right page from a notification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480060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 table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800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and revocation, hash only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5394960"/>
            <a:ext cx="7178040" cy="502920"/>
          </a:xfrm>
          <a:prstGeom prst="roundRect">
            <a:avLst>
              <a:gd name="adj" fmla="val 14545"/>
            </a:avLst>
          </a:prstGeom>
          <a:solidFill>
            <a:srgbClr val="F6F2E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and filtered indexes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5394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BR-04, BR-08 and BR-14 live here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performance are measured, not claimed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targets we will verify with tools and report honestly at the 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reads at 100 concurrent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300 ms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for accepting a task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344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250 KB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bundle, gzip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1828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performance and accessibility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· FluentAssertions · every BR-xx rule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SQL Server · Respawn · 50-request accept 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· Testing Library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572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golden scenario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scenarios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5257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Domain and Application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and a half weeks, hand-in Saturday 5 December 2026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October to 5 December, with a milestone every week and a buffer at the 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Oct – 3 Nov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CI, schema, Identity, design system, API contract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 Nov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catalog, projects, pricing, task creation, offers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17 Nov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accept, monthly cap, delivery and 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24 Nov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money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monitor, deductions, blocks, ledger, packages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Nov – 1 Dec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E2E tests, accessibility, security review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21240" y="2103120"/>
            <a:ext cx="1737360" cy="3474720"/>
          </a:xfrm>
          <a:prstGeom prst="roundRect">
            <a:avLst>
              <a:gd name="adj" fmla="val 6316"/>
            </a:avLst>
          </a:prstGeom>
          <a:solidFill>
            <a:srgbClr val="242944"/>
          </a:solidFill>
          <a:ln w="9525">
            <a:solidFill>
              <a:srgbClr val="2429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0412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Dec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Hand-in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74904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freeze, fixes only, rehearsal, package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M1 login for all roles · M2 request to offers · M3 accept engine green · M4 full journey · M5 release candidate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a vertical module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API, UI and tests for one area, so responsibility is clear.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731520" cy="7315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Tawfik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engine, concurrent accept, task 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92024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731520" cy="7315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Reda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freelancer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approval, portfolio, blocks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194560"/>
            <a:ext cx="731520" cy="7315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Khaled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journey, pricing, meetings, packages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192024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4DE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194560"/>
            <a:ext cx="731520" cy="7315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Merna Abdelfattah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finance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revisions, deductions, ledger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192024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F6F2EF"/>
          </a:solidFill>
          <a:ln w="9525">
            <a:solidFill>
              <a:srgbClr val="F6F2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2194560"/>
            <a:ext cx="731520" cy="731520"/>
          </a:xfrm>
          <a:prstGeom prst="ellipse">
            <a:avLst/>
          </a:prstGeom>
          <a:solidFill>
            <a:srgbClr val="242944"/>
          </a:solidFill>
          <a:ln w="12700">
            <a:solidFill>
              <a:srgbClr val="2429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38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2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Nahed Magdy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59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support, notifications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files, tickets, e-mail outbox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093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grow, scoped to finish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work, deliberately outside this delivery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210312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 tests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and SignalR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288036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ranking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matching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365760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485982"/>
          </a:solidFill>
          <a:ln w="12700">
            <a:solidFill>
              <a:srgbClr val="4859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434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pic>
        <p:nvPicPr>
          <p:cNvPr id="18" name="Image 0" descr="../build/assets/logo/alamia-horizonta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640080"/>
            <a:ext cx="3017520" cy="11704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229600" y="4206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9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5029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Tawfik · Menna Reda · Abdelrahman Khaled · Merna Abdelfattah · Nahed Magdy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-Alamia">
  <a:themeElements>
    <a:clrScheme name="Al-Alamia">
      <a:dk1>
        <a:srgbClr val="1B2740"/>
      </a:dk1>
      <a:lt1>
        <a:srgbClr val="FFFFFF"/>
      </a:lt1>
      <a:dk2>
        <a:srgbClr val="242944"/>
      </a:dk2>
      <a:lt2>
        <a:srgbClr val="F6F2EF"/>
      </a:lt2>
      <a:accent1>
        <a:srgbClr val="242944"/>
      </a:accent1>
      <a:accent2>
        <a:srgbClr val="C9A15F"/>
      </a:accent2>
      <a:accent3>
        <a:srgbClr val="B9CBEA"/>
      </a:accent3>
      <a:accent4>
        <a:srgbClr val="485982"/>
      </a:accent4>
      <a:accent5>
        <a:srgbClr val="8A6A1E"/>
      </a:accent5>
      <a:accent6>
        <a:srgbClr val="B42318"/>
      </a:accent6>
      <a:hlink>
        <a:srgbClr val="485982"/>
      </a:hlink>
      <a:folHlink>
        <a:srgbClr val="485982"/>
      </a:folHlink>
    </a:clrScheme>
    <a:fontScheme name="Al-Alam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Al-Alamia — Graduation Project</dc:title>
  <dc:subject>PptxGenJS Presentation</dc:subject>
  <dc:creator>Al-Alamia team</dc:creator>
  <cp:lastModifiedBy>Al-Alamia team</cp:lastModifiedBy>
  <cp:revision>1</cp:revision>
  <dcterms:created xsi:type="dcterms:W3CDTF">2026-10-28T05:20:30Z</dcterms:created>
  <dcterms:modified xsi:type="dcterms:W3CDTF">2026-10-28T05:20:30Z</dcterms:modified>
</cp:coreProperties>
</file>